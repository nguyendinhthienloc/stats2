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96dbd361a9418d" /><Relationship Type="http://schemas.openxmlformats.org/officeDocument/2006/relationships/extended-properties" Target="/docProps/app.xml" Id="R564400b66abf49ef" /><Relationship Type="http://schemas.openxmlformats.org/officeDocument/2006/relationships/officeDocument" Target="/ppt/presentation.xml" Id="R63f992a05af04e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bfad9d9523416b"/>
  </p:sldMasterIdLst>
  <p:notesMasterIdLst>
    <p:notesMasterId xmlns:r="http://schemas.openxmlformats.org/officeDocument/2006/relationships" r:id="Rcef848dbcfe94324"/>
  </p:notesMasterIdLst>
  <p:sldIdLst>
    <p:sldId xmlns:r="http://schemas.openxmlformats.org/officeDocument/2006/relationships" id="256" r:id="Rafa465a45eb347d6"/>
    <p:sldId xmlns:r="http://schemas.openxmlformats.org/officeDocument/2006/relationships" id="257" r:id="R2f9d3e00bbff442c"/>
    <p:sldId xmlns:r="http://schemas.openxmlformats.org/officeDocument/2006/relationships" id="258" r:id="R2f783cc16a4b4b81"/>
    <p:sldId xmlns:r="http://schemas.openxmlformats.org/officeDocument/2006/relationships" id="259" r:id="R041e2e2f9e724685"/>
    <p:sldId xmlns:r="http://schemas.openxmlformats.org/officeDocument/2006/relationships" id="260" r:id="R8c202e71e352405f"/>
    <p:sldId xmlns:r="http://schemas.openxmlformats.org/officeDocument/2006/relationships" id="261" r:id="R76e8f07c7926406e"/>
    <p:sldId xmlns:r="http://schemas.openxmlformats.org/officeDocument/2006/relationships" id="262" r:id="R924bdc2be12d4cbb"/>
    <p:sldId xmlns:r="http://schemas.openxmlformats.org/officeDocument/2006/relationships" id="263" r:id="Rf878f792963a4c7b"/>
    <p:sldId xmlns:r="http://schemas.openxmlformats.org/officeDocument/2006/relationships" id="264" r:id="R3472f97005aa42b5"/>
    <p:sldId xmlns:r="http://schemas.openxmlformats.org/officeDocument/2006/relationships" id="265" r:id="R4433f849236843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e9f63b09643cd" /><Relationship Type="http://schemas.openxmlformats.org/officeDocument/2006/relationships/slideMaster" Target="/ppt/slideMasters/slideMaster1.xml" Id="Rdfbfad9d9523416b" /><Relationship Type="http://schemas.openxmlformats.org/officeDocument/2006/relationships/notesMaster" Target="/ppt/notesMasters/notesMaster1.xml" Id="Rcef848dbcfe94324" /><Relationship Type="http://schemas.openxmlformats.org/officeDocument/2006/relationships/presProps" Target="/ppt/presProps.xml" Id="Rb0359a1ee4554323" /><Relationship Type="http://schemas.openxmlformats.org/officeDocument/2006/relationships/tableStyles" Target="/ppt/tableStyles.xml" Id="Rf3e414876bc84e64" /><Relationship Type="http://schemas.openxmlformats.org/officeDocument/2006/relationships/slide" Target="/ppt/slides/slide1.xml" Id="Rafa465a45eb347d6" /><Relationship Type="http://schemas.openxmlformats.org/officeDocument/2006/relationships/slide" Target="/ppt/slides/slide2.xml" Id="R2f9d3e00bbff442c" /><Relationship Type="http://schemas.openxmlformats.org/officeDocument/2006/relationships/slide" Target="/ppt/slides/slide3.xml" Id="R2f783cc16a4b4b81" /><Relationship Type="http://schemas.openxmlformats.org/officeDocument/2006/relationships/slide" Target="/ppt/slides/slide4.xml" Id="R041e2e2f9e724685" /><Relationship Type="http://schemas.openxmlformats.org/officeDocument/2006/relationships/slide" Target="/ppt/slides/slide5.xml" Id="R8c202e71e352405f" /><Relationship Type="http://schemas.openxmlformats.org/officeDocument/2006/relationships/slide" Target="/ppt/slides/slide6.xml" Id="R76e8f07c7926406e" /><Relationship Type="http://schemas.openxmlformats.org/officeDocument/2006/relationships/slide" Target="/ppt/slides/slide7.xml" Id="R924bdc2be12d4cbb" /><Relationship Type="http://schemas.openxmlformats.org/officeDocument/2006/relationships/slide" Target="/ppt/slides/slide8.xml" Id="Rf878f792963a4c7b" /><Relationship Type="http://schemas.openxmlformats.org/officeDocument/2006/relationships/slide" Target="/ppt/slides/slide9.xml" Id="R3472f97005aa42b5" /><Relationship Type="http://schemas.openxmlformats.org/officeDocument/2006/relationships/slide" Target="/ppt/slides/slide10.xml" Id="R4433f8492368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113f8918b0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ba19e9d1f74f78" /><Relationship Type="http://schemas.openxmlformats.org/officeDocument/2006/relationships/notesMaster" Target="/ppt/notesMasters/notesMaster1.xml" Id="Rae128e8656714e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311b37d8d542d7" /><Relationship Type="http://schemas.openxmlformats.org/officeDocument/2006/relationships/notesMaster" Target="/ppt/notesMasters/notesMaster1.xml" Id="R583f0f0f1d8d48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d46fbb0d7e4806" /><Relationship Type="http://schemas.openxmlformats.org/officeDocument/2006/relationships/notesMaster" Target="/ppt/notesMasters/notesMaster1.xml" Id="R9f5bac25b5d341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ecdf9cb36e4296" /><Relationship Type="http://schemas.openxmlformats.org/officeDocument/2006/relationships/notesMaster" Target="/ppt/notesMasters/notesMaster1.xml" Id="R18082b3b69e34e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b2813da2b94832" /><Relationship Type="http://schemas.openxmlformats.org/officeDocument/2006/relationships/notesMaster" Target="/ppt/notesMasters/notesMaster1.xml" Id="R0fa3d9c5beb44d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01a9364c9419a" /><Relationship Type="http://schemas.openxmlformats.org/officeDocument/2006/relationships/notesMaster" Target="/ppt/notesMasters/notesMaster1.xml" Id="Ra5e04b54633a46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8d143d82d648a6" /><Relationship Type="http://schemas.openxmlformats.org/officeDocument/2006/relationships/notesMaster" Target="/ppt/notesMasters/notesMaster1.xml" Id="R16802afd25db48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792368f7e74969" /><Relationship Type="http://schemas.openxmlformats.org/officeDocument/2006/relationships/notesMaster" Target="/ppt/notesMasters/notesMaster1.xml" Id="R3279076701074e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1b37d2abfd47d1" /><Relationship Type="http://schemas.openxmlformats.org/officeDocument/2006/relationships/notesMaster" Target="/ppt/notesMasters/notesMaster1.xml" Id="R144077d3316b41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911aca0c1d4e41" /><Relationship Type="http://schemas.openxmlformats.org/officeDocument/2006/relationships/notesMaster" Target="/ppt/notesMasters/notesMaster1.xml" Id="Rbcbf3f266d89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0:35. Open with the shared theme: strong conclusions depend on protecting the analysis from leakage and overclaiming.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D:/Stats2/output/figures/fig_p2_quality_distribution.pdf</a:t>
            </a:r>
          </a:p>
          <a:p xmlns:a="http://schemas.openxmlformats.org/drawingml/2006/main">
            <a:r>
              <a:t>- D:/Stats2/finals/part1/report/references.bib (UCIWine; Cortez2009)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0:55. Explain that the methods differ, but the standard is the same: define the question before seeing the answer and separate association from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D:/Stats2/references/STAT452_FinalProject_Y2526.pdf</a:t>
            </a:r>
          </a:p>
          <a:p xmlns:a="http://schemas.openxmlformats.org/drawingml/2006/main">
            <a:r>
              <a:t>- D:/Stats2/report/final-report.pdf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1:00. Emphasize that overlap and collinearity make a single-variable story inappropriate; regularization is motivated by the data structure, not added decoratively.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D:/Stats2/output/figures/fig_p2_correlation_heatmap.pdf</a:t>
            </a:r>
          </a:p>
          <a:p xmlns:a="http://schemas.openxmlformats.org/drawingml/2006/main">
            <a:r>
              <a:t>- D:/Stats2/output/tables/tab_p2_target_correlations.csv</a:t>
            </a:r>
          </a:p>
          <a:p xmlns:a="http://schemas.openxmlformats.org/drawingml/2006/main">
            <a:r>
              <a:t>- D:/Stats2/output/tables/tab_p1_data_audit.csv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1:05. This is the credibility slide. Stress that transformation selection itself is made inside each cross-validation fold, not just scaling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D:/Stats2/R/part1_helpers.R</a:t>
            </a:r>
          </a:p>
          <a:p xmlns:a="http://schemas.openxmlformats.org/drawingml/2006/main">
            <a:r>
              <a:t>- D:/Stats2/analysis/03_regularized_models.R</a:t>
            </a:r>
          </a:p>
          <a:p xmlns:a="http://schemas.openxmlformats.org/drawingml/2006/main">
            <a:r>
              <a:t>- D:/Stats2/output/model_lock.csv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0:55. Explain the path direction: stronger penalties move coefficients toward zero. Avoid implying that a zero coefficient proves scientific irrelevance.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D:/Stats2/output/figures/fig_p4_coefficient_paths.pdf</a:t>
            </a:r>
          </a:p>
          <a:p xmlns:a="http://schemas.openxmlformats.org/drawingml/2006/main">
            <a:r>
              <a:t>- D:/Stats2/output/tables/tab_p4_lasso_selection.csv</a:t>
            </a:r>
          </a:p>
          <a:p xmlns:a="http://schemas.openxmlformats.org/drawingml/2006/main">
            <a:r>
              <a:t>- D:/Stats2/finals/part1/report/references.bib (Hoerl1970; Tibshirani1996; Zou2005; Friedman2010)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1:10. State the honest negative result: regularization did not materially improve holdout RMSE over OLS, although all chemistry models greatly outperform the mean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D:/Stats2/output/tables/tab_p5_holdout_display.csv</a:t>
            </a:r>
          </a:p>
          <a:p xmlns:a="http://schemas.openxmlformats.org/drawingml/2006/main">
            <a:r>
              <a:t>- D:/Stats2/output/model_lock.csv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0:55. Connect regression-to-the-mean with the imbalanced target. Rare-score metrics are highly uncertain because their sample sizes are tiny.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D:/Stats2/output/figures/fig_p5_actual_vs_predicted.pdf</a:t>
            </a:r>
          </a:p>
          <a:p xmlns:a="http://schemas.openxmlformats.org/drawingml/2006/main">
            <a:r>
              <a:t>- D:/Stats2/output/tables/tab_p5_error_by_quality.csv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1:00. Make the causal boundary explicit before showing p-values. Lunch is treated as a contextual socioeconomic proxy, not a manipulable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D:/Stats2/output/figures/fig_part2_factorial_patterns.pdf</a:t>
            </a:r>
          </a:p>
          <a:p xmlns:a="http://schemas.openxmlformats.org/drawingml/2006/main">
            <a:r>
              <a:t>- D:/Stats2/output/tables/tab_part2_data_audit.csv</a:t>
            </a:r>
          </a:p>
          <a:p xmlns:a="http://schemas.openxmlformats.org/drawingml/2006/main">
            <a:r>
              <a:t>- https://www.kaggle.com/datasets/timothyadeyemi/students-performance-in-exams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1:15. Report score-point effects before statistical significance. Both marginal associations are clear; the interaction estimate is small and uncertain. Diagnostics and HC3 do not change the decisions, but independence cannot be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D:/Stats2/output/tables/tab_part2_key_findings.csv</a:t>
            </a:r>
          </a:p>
          <a:p xmlns:a="http://schemas.openxmlformats.org/drawingml/2006/main">
            <a:r>
              <a:t>- D:/Stats2/output/tables/tab_part2_assumptions.csv</a:t>
            </a:r>
          </a:p>
          <a:p xmlns:a="http://schemas.openxmlformats.org/drawingml/2006/main">
            <a:r>
              <a:t>- D:/Stats2/output/tables/tab_part2_robust_sensitivity.csv</a:t>
            </a:r>
          </a:p>
          <a:p xmlns:a="http://schemas.openxmlformats.org/drawingml/2006/main">
            <a:r>
              <a:t>- D:/Stats2/finals/part2/report/references.bib (BrownForsythe1974; MacKinnonWhite1985; Lakens2013)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1:10. Close by resolving both opening questions. Do not end on p-values; end on the boundary between what the evidence supports and what the next design should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D:/Stats2/report/final-report.pdf</a:t>
            </a:r>
          </a:p>
          <a:p xmlns:a="http://schemas.openxmlformats.org/drawingml/2006/main">
            <a:r>
              <a:t>- D:/Stats2/output/tables/tab_p5_holdout_display.csv</a:t>
            </a:r>
          </a:p>
          <a:p xmlns:a="http://schemas.openxmlformats.org/drawingml/2006/main">
            <a:r>
              <a:t>- D:/Stats2/output/tables/tab_part2_key_findings.csv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c984d27dd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16dd0b65a4ec1" /><Relationship Type="http://schemas.openxmlformats.org/officeDocument/2006/relationships/slideLayout" Target="/ppt/slideLayouts/slideLayout1.xml" Id="R113c3749676c47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3c3749676c47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4b219f47b4739" /><Relationship Type="http://schemas.openxmlformats.org/officeDocument/2006/relationships/image" Target="/ppt/media/image.png" Id="Rb2954d9865ef4963" /><Relationship Type="http://schemas.openxmlformats.org/officeDocument/2006/relationships/notesSlide" Target="/ppt/notesSlides/notesSlide1.xml" Id="R708728d6d8da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dad273e7e49db" /><Relationship Type="http://schemas.openxmlformats.org/officeDocument/2006/relationships/notesSlide" Target="/ppt/notesSlides/notesSlide2.xml" Id="R89841edae7674a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810acdd9b498d" /><Relationship Type="http://schemas.openxmlformats.org/officeDocument/2006/relationships/image" Target="/ppt/media/image2.png" Id="Rfdf56a2d4b2c4a60" /><Relationship Type="http://schemas.openxmlformats.org/officeDocument/2006/relationships/notesSlide" Target="/ppt/notesSlides/notesSlide3.xml" Id="R888f428f86f74c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0b09314a74b8d" /><Relationship Type="http://schemas.openxmlformats.org/officeDocument/2006/relationships/notesSlide" Target="/ppt/notesSlides/notesSlide4.xml" Id="R2e8982eaba7443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19bf1f30f42e1" /><Relationship Type="http://schemas.openxmlformats.org/officeDocument/2006/relationships/image" Target="/ppt/media/image3.png" Id="Rcaa66cca808e448b" /><Relationship Type="http://schemas.openxmlformats.org/officeDocument/2006/relationships/notesSlide" Target="/ppt/notesSlides/notesSlide5.xml" Id="R78a8b4b8bd2c49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1390ee44e4b6e" /><Relationship Type="http://schemas.openxmlformats.org/officeDocument/2006/relationships/chart" Target="/ppt/slides/charts/chart1.xml" Id="R894db1898201442c" /><Relationship Type="http://schemas.openxmlformats.org/officeDocument/2006/relationships/notesSlide" Target="/ppt/notesSlides/notesSlide6.xml" Id="R9f1d555c74004d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4259294d84b59" /><Relationship Type="http://schemas.openxmlformats.org/officeDocument/2006/relationships/image" Target="/ppt/media/image4.png" Id="R33d65cd3c3af44b9" /><Relationship Type="http://schemas.openxmlformats.org/officeDocument/2006/relationships/notesSlide" Target="/ppt/notesSlides/notesSlide7.xml" Id="Rd58c6467101c47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196aa8cc44a6d" /><Relationship Type="http://schemas.openxmlformats.org/officeDocument/2006/relationships/image" Target="/ppt/media/image5.png" Id="Re6c387c739c348ac" /><Relationship Type="http://schemas.openxmlformats.org/officeDocument/2006/relationships/notesSlide" Target="/ppt/notesSlides/notesSlide8.xml" Id="Rba61eb147f154e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897ec5cb14b08" /><Relationship Type="http://schemas.openxmlformats.org/officeDocument/2006/relationships/chart" Target="/ppt/slides/charts/chart2.xml" Id="R77eb40c9e512400b" /><Relationship Type="http://schemas.openxmlformats.org/officeDocument/2006/relationships/notesSlide" Target="/ppt/notesSlides/notesSlide9.xml" Id="Rf2fd1332484f49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6c40c64a347f7" /><Relationship Type="http://schemas.openxmlformats.org/officeDocument/2006/relationships/notesSlide" Target="/ppt/notesSlides/notesSlide10.xml" Id="R675a61a4d7ee4f5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Holdout RMSE</c:v>
          </c:tx>
          <c:spPr>
            <a:solidFill xmlns:a="http://schemas.openxmlformats.org/drawingml/2006/main">
              <a:srgbClr val="2878B5"/>
            </a:solidFill>
          </c:spPr>
          <c:cat>
            <c:strLit>
              <c:ptCount val="5"/>
              <c:pt idx="0">
                <c:v>OLS</c:v>
              </c:pt>
              <c:pt idx="1">
                <c:v>Ridge</c:v>
              </c:pt>
              <c:pt idx="2">
                <c:v>Elastic Net</c:v>
              </c:pt>
              <c:pt idx="3">
                <c:v>Lasso</c:v>
              </c:pt>
              <c:pt idx="4">
                <c:v>Mean</c:v>
              </c:pt>
            </c:strLit>
          </c:cat>
          <c:val>
            <c:numLit>
              <c:formatCode>General</c:formatCode>
              <c:ptCount val="5"/>
              <c:pt idx="0">
                <c:v>613</c:v>
              </c:pt>
              <c:pt idx="1">
                <c:v>613</c:v>
              </c:pt>
              <c:pt idx="2">
                <c:v>614</c:v>
              </c:pt>
              <c:pt idx="3">
                <c:v>614</c:v>
              </c:pt>
              <c:pt idx="4">
                <c:v>820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Estimated difference (points)</c:v>
          </c:tx>
          <c:spPr>
            <a:solidFill xmlns:a="http://schemas.openxmlformats.org/drawingml/2006/main">
              <a:srgbClr val="2A9D8F"/>
            </a:solidFill>
          </c:spPr>
          <c:invertIfNegative val="0"/>
          <c:cat>
            <c:strLit>
              <c:ptCount val="3"/>
              <c:pt idx="0">
                <c:v>Preparation</c:v>
              </c:pt>
              <c:pt idx="1">
                <c:v>Lunch</c:v>
              </c:pt>
              <c:pt idx="2">
                <c:v>Interaction</c:v>
              </c:pt>
            </c:strLit>
          </c:cat>
          <c:val>
            <c:numLit>
              <c:formatCode>General</c:formatCode>
              <c:ptCount val="3"/>
              <c:pt idx="0">
                <c:v>5.96797065550002</c:v>
              </c:pt>
              <c:pt idx="1">
                <c:v>11.0561404206484</c:v>
              </c:pt>
              <c:pt idx="2">
                <c:v>-1.13780459957791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3"/>
          <c:min val="-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image-panel">
            <a:extLst xmlns:a="http://schemas.openxmlformats.org/drawingml/2006/main">
              <a:ext uri="{FF2B5EF4-FFF2-40B4-BE49-F238E27FC236}">
                <a16:creationId xmlns:a16="http://schemas.microsoft.com/office/drawing/2014/main" id="{270647A2-C176-4F8C-82B6-7743A98A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54d9865ef4963"/>
          <a:stretch xmlns:a="http://schemas.openxmlformats.org/drawingml/2006/main"/>
        </p:blipFill>
        <p:spPr>
          <a:xfrm xmlns:a="http://schemas.openxmlformats.org/drawingml/2006/main">
            <a:off x="6667500" y="1632857"/>
            <a:ext cx="5143500" cy="3306536"/>
          </a:xfrm>
          <a:prstGeom xmlns:a="http://schemas.openxmlformats.org/drawingml/2006/main" prst="rect">
            <a:avLst/>
          </a:prstGeom>
        </p:spPr>
      </p:pic>
      <p:sp>
        <p:nvSpPr>
          <p:cNvPr id="3" name="course">
            <a:extLst xmlns:a="http://schemas.openxmlformats.org/drawingml/2006/main">
              <a:ext uri="{FF2B5EF4-FFF2-40B4-BE49-F238E27FC236}">
                <a16:creationId xmlns:a16="http://schemas.microsoft.com/office/drawing/2014/main" id="{1C463693-136C-4EF7-B909-02236D47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STAT452 · GROUP 8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482FF7-5ED8-45B0-919B-29A584C4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chemistry predict red-wine quality?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96922DF-0732-456A-AEAF-C09FBD04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B6470"/>
                </a:solidFill>
                <a:latin typeface="Arial"/>
                <a:ea typeface="Arial"/>
                <a:cs typeface="Arial"/>
              </a:rPr>
              <a:t>A leakage-controlled prediction study — plus an observational two-factor analysis of student mathematics scores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A9B1595-BC75-4F35-AE58-BBD7CE46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0"/>
                </a:solidFill>
                <a:latin typeface="Arial"/>
                <a:ea typeface="Arial"/>
                <a:cs typeface="Arial"/>
              </a:rPr>
              <a:t>Academic Year 2025–2026</a:t>
            </a:r>
          </a:p>
        </p:txBody>
      </p:sp>
    </p:spTree>
    <p:extLst>
      <p:ext uri="{BB962C8B-B14F-4D97-AF65-F5344CB8AC3E}">
        <p14:creationId xmlns:p14="http://schemas.microsoft.com/office/powerpoint/2010/main" val="2040282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">
            <a:extLst xmlns:a="http://schemas.openxmlformats.org/drawingml/2006/main">
              <a:ext uri="{FF2B5EF4-FFF2-40B4-BE49-F238E27FC236}">
                <a16:creationId xmlns:a16="http://schemas.microsoft.com/office/drawing/2014/main" id="{F712A562-E2EC-4E38-BCD8-C19D70D1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studies, one standard: protect the claim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5008C8CE-D756-4872-823B-2408DEB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ule-52-125">
            <a:extLst xmlns:a="http://schemas.openxmlformats.org/drawingml/2006/main">
              <a:ext uri="{FF2B5EF4-FFF2-40B4-BE49-F238E27FC236}">
                <a16:creationId xmlns:a16="http://schemas.microsoft.com/office/drawing/2014/main" id="{083F491C-3F24-4C37-B452-B8333BEB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-label">
            <a:extLst xmlns:a="http://schemas.openxmlformats.org/drawingml/2006/main">
              <a:ext uri="{FF2B5EF4-FFF2-40B4-BE49-F238E27FC236}">
                <a16:creationId xmlns:a16="http://schemas.microsoft.com/office/drawing/2014/main" id="{BF439A20-4BAC-4937-A569-3ABC76B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PART 1 · PREDICTION</a:t>
            </a:r>
          </a:p>
        </p:txBody>
      </p:sp>
      <p:sp>
        <p:nvSpPr>
          <p:cNvPr id="5" name="p1-question">
            <a:extLst xmlns:a="http://schemas.openxmlformats.org/drawingml/2006/main">
              <a:ext uri="{FF2B5EF4-FFF2-40B4-BE49-F238E27FC236}">
                <a16:creationId xmlns:a16="http://schemas.microsoft.com/office/drawing/2014/main" id="{DEE98AE2-FC31-4458-98D1-16BEE34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29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well can 11 physicochemical measurements predict expert wine-quality scores?</a:t>
            </a:r>
          </a:p>
        </p:txBody>
      </p:sp>
      <p:sp>
        <p:nvSpPr>
          <p:cNvPr id="6" name="p1-method">
            <a:extLst xmlns:a="http://schemas.openxmlformats.org/drawingml/2006/main">
              <a:ext uri="{FF2B5EF4-FFF2-40B4-BE49-F238E27FC236}">
                <a16:creationId xmlns:a16="http://schemas.microsoft.com/office/drawing/2014/main" id="{44A38C83-ACE0-4553-8D2E-C461FAD8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B6470"/>
                </a:solidFill>
                <a:latin typeface="Arial"/>
                <a:ea typeface="Arial"/>
                <a:cs typeface="Arial"/>
              </a:rPr>
              <a:t>Regression · fixed 80/20 split · shared five-fold CV · one-time holdout evaluation</a:t>
            </a:r>
          </a:p>
        </p:txBody>
      </p:sp>
      <p:sp>
        <p:nvSpPr>
          <p:cNvPr id="7" name="rule-635-170">
            <a:extLst xmlns:a="http://schemas.openxmlformats.org/drawingml/2006/main">
              <a:ext uri="{FF2B5EF4-FFF2-40B4-BE49-F238E27FC236}">
                <a16:creationId xmlns:a16="http://schemas.microsoft.com/office/drawing/2014/main" id="{08CAC513-C89C-4AFF-A704-4DADA128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2-label">
            <a:extLst xmlns:a="http://schemas.openxmlformats.org/drawingml/2006/main">
              <a:ext uri="{FF2B5EF4-FFF2-40B4-BE49-F238E27FC236}">
                <a16:creationId xmlns:a16="http://schemas.microsoft.com/office/drawing/2014/main" id="{22F2D33B-CEE4-44F0-8CBA-FAD565E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PART 2 · FACTORIAL ANALYSIS</a:t>
            </a:r>
          </a:p>
        </p:txBody>
      </p:sp>
      <p:sp>
        <p:nvSpPr>
          <p:cNvPr id="9" name="p2-question">
            <a:extLst xmlns:a="http://schemas.openxmlformats.org/drawingml/2006/main">
              <a:ext uri="{FF2B5EF4-FFF2-40B4-BE49-F238E27FC236}">
                <a16:creationId xmlns:a16="http://schemas.microsoft.com/office/drawing/2014/main" id="{58D1A899-01A9-41F0-A0EE-DC4107EF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observed test-preparation and lunch groups differ in mean mathematics score?</a:t>
            </a:r>
          </a:p>
        </p:txBody>
      </p:sp>
      <p:sp>
        <p:nvSpPr>
          <p:cNvPr id="10" name="p2-method">
            <a:extLst xmlns:a="http://schemas.openxmlformats.org/drawingml/2006/main">
              <a:ext uri="{FF2B5EF4-FFF2-40B4-BE49-F238E27FC236}">
                <a16:creationId xmlns:a16="http://schemas.microsoft.com/office/drawing/2014/main" id="{232D11DE-6AF3-440D-8070-7A1A2012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B6470"/>
                </a:solidFill>
                <a:latin typeface="Arial"/>
                <a:ea typeface="Arial"/>
                <a:cs typeface="Arial"/>
              </a:rPr>
              <a:t>2×2 ANOVA · effect-coded marginal tests · HC3 sensitivity · non-causal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954596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60A075CB-28AA-413D-839C-C02595BE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Wine scores cluster at 5–6; predictors are correlated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B0EF7332-A361-464E-8994-3285E8C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eda-copy">
            <a:extLst xmlns:a="http://schemas.openxmlformats.org/drawingml/2006/main">
              <a:ext uri="{FF2B5EF4-FFF2-40B4-BE49-F238E27FC236}">
                <a16:creationId xmlns:a16="http://schemas.microsoft.com/office/drawing/2014/main" id="{9BF09184-1ED2-420E-BF9C-A798806D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46196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1,599 raw records; 240 exact duplicates removed before splitting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Alcohol is the strongest positive marginal signal; volatile acidity is the strongest negative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Acidity, density, pH, and sulfur-dioxide measures share information — ideal conditions for shrinkage</a:t>
            </a:r>
          </a:p>
        </p:txBody>
      </p:sp>
      <p:sp>
        <p:nvSpPr>
          <p:cNvPr id="4" name="eda-image-panel">
            <a:extLst xmlns:a="http://schemas.openxmlformats.org/drawingml/2006/main">
              <a:ext uri="{FF2B5EF4-FFF2-40B4-BE49-F238E27FC236}">
                <a16:creationId xmlns:a16="http://schemas.microsoft.com/office/drawing/2014/main" id="{9AAD9ECC-134C-4B0A-B1CB-D90723C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238250"/>
            <a:ext cx="6000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56a2d4b2c4a60"/>
          <a:stretch xmlns:a="http://schemas.openxmlformats.org/drawingml/2006/main"/>
        </p:blipFill>
        <p:spPr>
          <a:xfrm xmlns:a="http://schemas.openxmlformats.org/drawingml/2006/main">
            <a:off x="6130925" y="1381125"/>
            <a:ext cx="507365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25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4">
            <a:extLst xmlns:a="http://schemas.openxmlformats.org/drawingml/2006/main">
              <a:ext uri="{FF2B5EF4-FFF2-40B4-BE49-F238E27FC236}">
                <a16:creationId xmlns:a16="http://schemas.microsoft.com/office/drawing/2014/main" id="{504F863F-7721-42DB-B33D-3DA02668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Holdout outcomes stayed sealed until the Ridge lock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4E428027-5867-43A2-BDD4-D9A752EB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E7854A79-2E27-4F68-AD23-754BFA92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B6470"/>
                </a:solidFill>
                <a:latin typeface="Arial"/>
                <a:ea typeface="Arial"/>
                <a:cs typeface="Arial"/>
              </a:rPr>
              <a:t>Preprocessing and tuning are refit inside each analysis fold; the final recipe is applied unchanged to predictor-only holdout data.</a:t>
            </a:r>
          </a:p>
        </p:txBody>
      </p:sp>
      <p:sp>
        <p:nvSpPr>
          <p:cNvPr id="4" name="rule-150-360">
            <a:extLst xmlns:a="http://schemas.openxmlformats.org/drawingml/2006/main">
              <a:ext uri="{FF2B5EF4-FFF2-40B4-BE49-F238E27FC236}">
                <a16:creationId xmlns:a16="http://schemas.microsoft.com/office/drawing/2014/main" id="{DDAEC7C8-F01A-4D7B-9C5F-0C5FC49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dot-0">
            <a:extLst xmlns:a="http://schemas.openxmlformats.org/drawingml/2006/main">
              <a:ext uri="{FF2B5EF4-FFF2-40B4-BE49-F238E27FC236}">
                <a16:creationId xmlns:a16="http://schemas.microsoft.com/office/drawing/2014/main" id="{CCC52040-AFF3-4BDD-BBD3-959E2DC9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099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456EAA56-A1C9-4832-8FDE-88151CD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93D7C592-A4DD-4C0F-8221-DA91C301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8" name="step-metric-0">
            <a:extLst xmlns:a="http://schemas.openxmlformats.org/drawingml/2006/main">
              <a:ext uri="{FF2B5EF4-FFF2-40B4-BE49-F238E27FC236}">
                <a16:creationId xmlns:a16="http://schemas.microsoft.com/office/drawing/2014/main" id="{15C19EF4-FAA5-425C-BFAE-C9ADEF5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1,088 rows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E13D16F-7898-4E57-961B-044494D8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0"/>
                </a:solidFill>
                <a:latin typeface="Arial"/>
                <a:ea typeface="Arial"/>
                <a:cs typeface="Arial"/>
              </a:rPr>
              <a:t>Learn winsor limits, log choices, centering and scaling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59D10ED4-5283-4DD8-B4B6-CC123F50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99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3C89E3C-C59D-4880-A953-01B03A53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A338940-0E54-4C6A-A188-DB892BE0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CROSS-VALIDATE</a:t>
            </a:r>
          </a:p>
        </p:txBody>
      </p:sp>
      <p:sp>
        <p:nvSpPr>
          <p:cNvPr id="13" name="step-metric-1">
            <a:extLst xmlns:a="http://schemas.openxmlformats.org/drawingml/2006/main">
              <a:ext uri="{FF2B5EF4-FFF2-40B4-BE49-F238E27FC236}">
                <a16:creationId xmlns:a16="http://schemas.microsoft.com/office/drawing/2014/main" id="{A50C22C6-3B9E-41CC-A447-9383227A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52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0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 shared folds</a:t>
            </a:r>
          </a:p>
        </p:txBody>
      </p:sp>
      <p:sp>
        <p:nvSpPr>
          <p:cNvPr id="14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EB42DC7-F4C0-47D5-84FF-C5C45F48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196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0"/>
                </a:solidFill>
                <a:latin typeface="Arial"/>
                <a:ea typeface="Arial"/>
                <a:cs typeface="Arial"/>
              </a:rPr>
              <a:t>Tune Ridge, Lasso and Elastic Net on identical splits</a:t>
            </a:r>
          </a:p>
        </p:txBody>
      </p:sp>
      <p:sp>
        <p:nvSpPr>
          <p:cNvPr id="15" name="step-dot-2">
            <a:extLst xmlns:a="http://schemas.openxmlformats.org/drawingml/2006/main">
              <a:ext uri="{FF2B5EF4-FFF2-40B4-BE49-F238E27FC236}">
                <a16:creationId xmlns:a16="http://schemas.microsoft.com/office/drawing/2014/main" id="{CF3ED1AA-000D-4EDA-9BFA-89E18B6B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99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CCABB89-C33B-4F4B-88DD-4B99799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E885F52-009B-4495-AACF-DFA621F7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LOCK</a:t>
            </a:r>
          </a:p>
        </p:txBody>
      </p:sp>
      <p:sp>
        <p:nvSpPr>
          <p:cNvPr id="18" name="step-metric-2">
            <a:extLst xmlns:a="http://schemas.openxmlformats.org/drawingml/2006/main">
              <a:ext uri="{FF2B5EF4-FFF2-40B4-BE49-F238E27FC236}">
                <a16:creationId xmlns:a16="http://schemas.microsoft.com/office/drawing/2014/main" id="{1862F468-0C0F-43D8-8505-FB7205C4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52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Ridge</a:t>
            </a:r>
          </a:p>
        </p:txBody>
      </p:sp>
      <p:sp>
        <p:nvSpPr>
          <p:cNvPr id="19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35C5931-F625-473F-B9DC-CF7E5D7F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0"/>
                </a:solidFill>
                <a:latin typeface="Arial"/>
                <a:ea typeface="Arial"/>
                <a:cs typeface="Arial"/>
              </a:rPr>
              <a:t>Lowest CV RMSE = 0.6711 before holdout reconstruction</a:t>
            </a:r>
          </a:p>
        </p:txBody>
      </p:sp>
      <p:sp>
        <p:nvSpPr>
          <p:cNvPr id="20" name="step-dot-3">
            <a:extLst xmlns:a="http://schemas.openxmlformats.org/drawingml/2006/main">
              <a:ext uri="{FF2B5EF4-FFF2-40B4-BE49-F238E27FC236}">
                <a16:creationId xmlns:a16="http://schemas.microsoft.com/office/drawing/2014/main" id="{C5F1F539-2627-47A7-ACD8-AEC870C2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099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604257D-0209-4E8B-BBF0-40C3D2D9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33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3F12458-3576-4F84-B98E-11CE5EBB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81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3" name="step-metric-3">
            <a:extLst xmlns:a="http://schemas.openxmlformats.org/drawingml/2006/main">
              <a:ext uri="{FF2B5EF4-FFF2-40B4-BE49-F238E27FC236}">
                <a16:creationId xmlns:a16="http://schemas.microsoft.com/office/drawing/2014/main" id="{20919464-7C94-4818-853A-25D3298C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52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271 rows</a:t>
            </a:r>
          </a:p>
        </p:txBody>
      </p:sp>
      <p:sp>
        <p:nvSpPr>
          <p:cNvPr id="24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64E5D53-02CC-498B-8C72-C8BF8D26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6196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0"/>
                </a:solidFill>
                <a:latin typeface="Arial"/>
                <a:ea typeface="Arial"/>
                <a:cs typeface="Arial"/>
              </a:rPr>
              <a:t>Compare every predeclared model once on identical rows</a:t>
            </a:r>
          </a:p>
        </p:txBody>
      </p:sp>
    </p:spTree>
    <p:extLst>
      <p:ext uri="{BB962C8B-B14F-4D97-AF65-F5344CB8AC3E}">
        <p14:creationId xmlns:p14="http://schemas.microsoft.com/office/powerpoint/2010/main" val="803835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853566B4-26D6-4E4A-B0F4-BEE35655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Regularization changes stability—not accuracy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5A11964F-1D1E-4E41-8C2A-8B950B1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66cca808e448b"/>
          <a:stretch xmlns:a="http://schemas.openxmlformats.org/drawingml/2006/main"/>
        </p:blipFill>
        <p:spPr>
          <a:xfrm xmlns:a="http://schemas.openxmlformats.org/drawingml/2006/main">
            <a:off x="1540565" y="1238250"/>
            <a:ext cx="9110870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path-takeaway">
            <a:extLst xmlns:a="http://schemas.openxmlformats.org/drawingml/2006/main">
              <a:ext uri="{FF2B5EF4-FFF2-40B4-BE49-F238E27FC236}">
                <a16:creationId xmlns:a16="http://schemas.microsoft.com/office/drawing/2014/main" id="{2B204824-DD22-4EAF-B0F7-55FBF72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Ridge shares weight across correlated predictors; Lasso and Elastic Net produce sparse seven-feature interpretations at the one-SE penalty.</a:t>
            </a:r>
          </a:p>
        </p:txBody>
      </p:sp>
    </p:spTree>
    <p:extLst>
      <p:ext uri="{BB962C8B-B14F-4D97-AF65-F5344CB8AC3E}">
        <p14:creationId xmlns:p14="http://schemas.microsoft.com/office/powerpoint/2010/main" val="1167258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6">
            <a:extLst xmlns:a="http://schemas.openxmlformats.org/drawingml/2006/main">
              <a:ext uri="{FF2B5EF4-FFF2-40B4-BE49-F238E27FC236}">
                <a16:creationId xmlns:a16="http://schemas.microsoft.com/office/drawing/2014/main" id="{792291FE-B770-4C37-A81F-634E2165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fitted models are effectively tied on holdout RMSE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21C36ADB-C950-489A-88A7-B3A1687E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holdout-chart-label">
            <a:extLst xmlns:a="http://schemas.openxmlformats.org/drawingml/2006/main">
              <a:ext uri="{FF2B5EF4-FFF2-40B4-BE49-F238E27FC236}">
                <a16:creationId xmlns:a16="http://schemas.microsoft.com/office/drawing/2014/main" id="{2DC1137D-7259-4D72-BD1E-455FC03B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0"/>
                </a:solidFill>
                <a:latin typeface="Arial"/>
                <a:ea typeface="Arial"/>
                <a:cs typeface="Arial"/>
              </a:rPr>
              <a:t>Holdout RMSE × 1,000 · lower is better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61912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4db1898201442c"/>
          </a:graphicData>
        </a:graphic>
      </p:graphicFrame>
      <p:sp>
        <p:nvSpPr>
          <p:cNvPr id="5" name="ridge-rmse-value">
            <a:extLst xmlns:a="http://schemas.openxmlformats.org/drawingml/2006/main">
              <a:ext uri="{FF2B5EF4-FFF2-40B4-BE49-F238E27FC236}">
                <a16:creationId xmlns:a16="http://schemas.microsoft.com/office/drawing/2014/main" id="{6E722E4B-6F91-4DC1-BD1F-EBF97FFE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24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0.613</a:t>
            </a:r>
          </a:p>
        </p:txBody>
      </p:sp>
      <p:sp>
        <p:nvSpPr>
          <p:cNvPr id="6" name="ridge-rmse-label">
            <a:extLst xmlns:a="http://schemas.openxmlformats.org/drawingml/2006/main">
              <a:ext uri="{FF2B5EF4-FFF2-40B4-BE49-F238E27FC236}">
                <a16:creationId xmlns:a16="http://schemas.microsoft.com/office/drawing/2014/main" id="{81D00A70-0A5E-42CA-850C-26831A9D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479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0"/>
                </a:solidFill>
                <a:latin typeface="Arial"/>
                <a:ea typeface="Arial"/>
                <a:cs typeface="Arial"/>
              </a:rPr>
              <a:t>Ridge holdout RMSE</a:t>
            </a:r>
          </a:p>
        </p:txBody>
      </p:sp>
      <p:sp>
        <p:nvSpPr>
          <p:cNvPr id="7" name="ridge-mae-value">
            <a:extLst xmlns:a="http://schemas.openxmlformats.org/drawingml/2006/main">
              <a:ext uri="{FF2B5EF4-FFF2-40B4-BE49-F238E27FC236}">
                <a16:creationId xmlns:a16="http://schemas.microsoft.com/office/drawing/2014/main" id="{A10809FB-7330-4E2A-B709-B486150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908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0.482</a:t>
            </a:r>
          </a:p>
        </p:txBody>
      </p:sp>
      <p:sp>
        <p:nvSpPr>
          <p:cNvPr id="8" name="ridge-mae-label">
            <a:extLst xmlns:a="http://schemas.openxmlformats.org/drawingml/2006/main">
              <a:ext uri="{FF2B5EF4-FFF2-40B4-BE49-F238E27FC236}">
                <a16:creationId xmlns:a16="http://schemas.microsoft.com/office/drawing/2014/main" id="{B15DFC25-E15A-469B-93CC-CD452F69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0"/>
                </a:solidFill>
                <a:latin typeface="Arial"/>
                <a:ea typeface="Arial"/>
                <a:cs typeface="Arial"/>
              </a:rPr>
              <a:t>Ridge holdout MAE</a:t>
            </a:r>
          </a:p>
        </p:txBody>
      </p:sp>
      <p:sp>
        <p:nvSpPr>
          <p:cNvPr id="9" name="tie-note">
            <a:extLst xmlns:a="http://schemas.openxmlformats.org/drawingml/2006/main">
              <a:ext uri="{FF2B5EF4-FFF2-40B4-BE49-F238E27FC236}">
                <a16:creationId xmlns:a16="http://schemas.microsoft.com/office/drawing/2014/main" id="{CFE9472C-18A5-4525-905B-DDB5A7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577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OLS is lower by only 0.0003 RMSE. We keep Ridge because CV—not the holdout—made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064530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749DAFF0-7E26-4907-AA7F-E395EE9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Rare scores expose the central-score bias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0462F7B1-4BE0-4C46-8EA1-55B2EEB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prediction-image-panel">
            <a:extLst xmlns:a="http://schemas.openxmlformats.org/drawingml/2006/main">
              <a:ext uri="{FF2B5EF4-FFF2-40B4-BE49-F238E27FC236}">
                <a16:creationId xmlns:a16="http://schemas.microsoft.com/office/drawing/2014/main" id="{59FB2CEE-076E-4DB3-A132-78CCD56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70961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65cd3c3af44b9"/>
          <a:stretch xmlns:a="http://schemas.openxmlformats.org/drawingml/2006/main"/>
        </p:blipFill>
        <p:spPr>
          <a:xfrm xmlns:a="http://schemas.openxmlformats.org/drawingml/2006/main">
            <a:off x="1422797" y="1333500"/>
            <a:ext cx="5250656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prediction-copy">
            <a:extLst xmlns:a="http://schemas.openxmlformats.org/drawingml/2006/main">
              <a:ext uri="{FF2B5EF4-FFF2-40B4-BE49-F238E27FC236}">
                <a16:creationId xmlns:a16="http://schemas.microsoft.com/office/drawing/2014/main" id="{723F07EE-5B86-4ECC-B3BF-9A4D592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381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Predictions contract toward 5–6.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Ridge RMSE by observed score: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score 3: 1.86 (n=2)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score 5: 0.45 (n=115)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score 8: 1.59 (n=3)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the model for expected score, not exact ordinal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841603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8">
            <a:extLst xmlns:a="http://schemas.openxmlformats.org/drawingml/2006/main">
              <a:ext uri="{FF2B5EF4-FFF2-40B4-BE49-F238E27FC236}">
                <a16:creationId xmlns:a16="http://schemas.microsoft.com/office/drawing/2014/main" id="{EEAF9153-2FBB-4894-B9A6-6D93C2F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 2 estimates associations—not causal effects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4C99A79D-2409-4266-9720-8F40EB87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part2-design">
            <a:extLst xmlns:a="http://schemas.openxmlformats.org/drawingml/2006/main">
              <a:ext uri="{FF2B5EF4-FFF2-40B4-BE49-F238E27FC236}">
                <a16:creationId xmlns:a16="http://schemas.microsoft.com/office/drawing/2014/main" id="{B8563B3C-EE01-4350-9657-FFD91799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191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Mathematics score (0–100)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 A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preparation: none / completed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 B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Lunch: free/reduced / standard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1,000 rows retained; no missing or duplicate profiles.</a:t>
            </a:r>
          </a:p>
        </p:txBody>
      </p:sp>
      <p:sp>
        <p:nvSpPr>
          <p:cNvPr id="4" name="part2-image-panel">
            <a:extLst xmlns:a="http://schemas.openxmlformats.org/drawingml/2006/main">
              <a:ext uri="{FF2B5EF4-FFF2-40B4-BE49-F238E27FC236}">
                <a16:creationId xmlns:a16="http://schemas.microsoft.com/office/drawing/2014/main" id="{16982A69-3E8A-405B-8148-8705788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190625"/>
            <a:ext cx="64293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387c739c348ac"/>
          <a:stretch xmlns:a="http://schemas.openxmlformats.org/drawingml/2006/main"/>
        </p:blipFill>
        <p:spPr>
          <a:xfrm xmlns:a="http://schemas.openxmlformats.org/drawingml/2006/main">
            <a:off x="5429250" y="2130201"/>
            <a:ext cx="6048375" cy="3026224"/>
          </a:xfrm>
          <a:prstGeom xmlns:a="http://schemas.openxmlformats.org/drawingml/2006/main" prst="rect">
            <a:avLst/>
          </a:prstGeom>
        </p:spPr>
      </p:pic>
      <p:sp>
        <p:nvSpPr>
          <p:cNvPr id="6" name="noncausal">
            <a:extLst xmlns:a="http://schemas.openxmlformats.org/drawingml/2006/main">
              <a:ext uri="{FF2B5EF4-FFF2-40B4-BE49-F238E27FC236}">
                <a16:creationId xmlns:a16="http://schemas.microsoft.com/office/drawing/2014/main" id="{FEECD6E1-B0E6-4C4E-9526-A0D074E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No random assignment or sampling frame → associations only</a:t>
            </a:r>
          </a:p>
        </p:txBody>
      </p:sp>
    </p:spTree>
    <p:extLst>
      <p:ext uri="{BB962C8B-B14F-4D97-AF65-F5344CB8AC3E}">
        <p14:creationId xmlns:p14="http://schemas.microsoft.com/office/powerpoint/2010/main" val="1057724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000E2C89-65C8-4B46-BD87-EEC4BB2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Preparation and lunch differ; the interaction does not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338C47BD-6360-4F9F-ACAB-72E78BE4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61912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eb40c9e512400b"/>
          </a:graphicData>
        </a:graphic>
      </p:graphicFrame>
      <p:sp>
        <p:nvSpPr>
          <p:cNvPr id="4" name="prep-effect-value">
            <a:extLst xmlns:a="http://schemas.openxmlformats.org/drawingml/2006/main">
              <a:ext uri="{FF2B5EF4-FFF2-40B4-BE49-F238E27FC236}">
                <a16:creationId xmlns:a16="http://schemas.microsoft.com/office/drawing/2014/main" id="{490ACECF-8899-4704-AA27-0675E6E9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+5.97</a:t>
            </a:r>
          </a:p>
        </p:txBody>
      </p:sp>
      <p:sp>
        <p:nvSpPr>
          <p:cNvPr id="5" name="prep-effect-label">
            <a:extLst xmlns:a="http://schemas.openxmlformats.org/drawingml/2006/main">
              <a:ext uri="{FF2B5EF4-FFF2-40B4-BE49-F238E27FC236}">
                <a16:creationId xmlns:a16="http://schemas.microsoft.com/office/drawing/2014/main" id="{4CBCE3A3-52C7-49A1-A9AF-DB341396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0"/>
                </a:solidFill>
                <a:latin typeface="Arial"/>
                <a:ea typeface="Arial"/>
                <a:cs typeface="Arial"/>
              </a:rPr>
              <a:t>Preparation difference</a:t>
            </a:r>
          </a:p>
        </p:txBody>
      </p:sp>
      <p:sp>
        <p:nvSpPr>
          <p:cNvPr id="6" name="lunch-effect-value">
            <a:extLst xmlns:a="http://schemas.openxmlformats.org/drawingml/2006/main">
              <a:ext uri="{FF2B5EF4-FFF2-40B4-BE49-F238E27FC236}">
                <a16:creationId xmlns:a16="http://schemas.microsoft.com/office/drawing/2014/main" id="{A22D50D8-3D29-4769-B8D4-25D4D4E9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+11.06</a:t>
            </a:r>
          </a:p>
        </p:txBody>
      </p:sp>
      <p:sp>
        <p:nvSpPr>
          <p:cNvPr id="7" name="lunch-effect-label">
            <a:extLst xmlns:a="http://schemas.openxmlformats.org/drawingml/2006/main">
              <a:ext uri="{FF2B5EF4-FFF2-40B4-BE49-F238E27FC236}">
                <a16:creationId xmlns:a16="http://schemas.microsoft.com/office/drawing/2014/main" id="{F2DF12A0-CF86-428D-A25B-DB5B0C17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242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0"/>
                </a:solidFill>
                <a:latin typeface="Arial"/>
                <a:ea typeface="Arial"/>
                <a:cs typeface="Arial"/>
              </a:rPr>
              <a:t>Lunch-group difference</a:t>
            </a:r>
          </a:p>
        </p:txBody>
      </p:sp>
      <p:sp>
        <p:nvSpPr>
          <p:cNvPr id="8" name="interaction-note">
            <a:extLst xmlns:a="http://schemas.openxmlformats.org/drawingml/2006/main">
              <a:ext uri="{FF2B5EF4-FFF2-40B4-BE49-F238E27FC236}">
                <a16:creationId xmlns:a16="http://schemas.microsoft.com/office/drawing/2014/main" id="{7C23A737-27C7-4AAD-98B1-7B2132AF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Interaction: -1.14 points, p=0.553. Brown–Forsythe p=0.364; HC3 sensitivity gives the same decisions.</a:t>
            </a:r>
          </a:p>
        </p:txBody>
      </p:sp>
    </p:spTree>
    <p:extLst>
      <p:ext uri="{BB962C8B-B14F-4D97-AF65-F5344CB8AC3E}">
        <p14:creationId xmlns:p14="http://schemas.microsoft.com/office/powerpoint/2010/main" val="78658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label">
            <a:extLst xmlns:a="http://schemas.openxmlformats.org/drawingml/2006/main">
              <a:ext uri="{FF2B5EF4-FFF2-40B4-BE49-F238E27FC236}">
                <a16:creationId xmlns:a16="http://schemas.microsoft.com/office/drawing/2014/main" id="{0B575375-5582-4229-AB2E-33466F1B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WHAT THE EVIDENCE SUPPORTS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5194257-A9BA-405A-ADB9-B1C9C5F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Better discipline changed what we can honestly claim</a:t>
            </a:r>
          </a:p>
        </p:txBody>
      </p:sp>
      <p:sp>
        <p:nvSpPr>
          <p:cNvPr id="3" name="close-lines">
            <a:extLst xmlns:a="http://schemas.openxmlformats.org/drawingml/2006/main">
              <a:ext uri="{FF2B5EF4-FFF2-40B4-BE49-F238E27FC236}">
                <a16:creationId xmlns:a16="http://schemas.microsoft.com/office/drawing/2014/main" id="{245C1966-3B6C-403D-964E-EFFBF8C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1009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1. Ridge is the pre-locked predictor, but OLS and regularized models are practically tied.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2. Rare wine-quality scores remain difficult; no model removes the central-score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3. Preparation and lunch groups differ in math score, but the observational data do not identify causal effects.</a:t>
            </a:r>
          </a:p>
        </p:txBody>
      </p:sp>
      <p:sp>
        <p:nvSpPr>
          <p:cNvPr id="4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236E77BA-71CD-4DE8-9B88-FB8DBA20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0"/>
                </a:solidFill>
                <a:latin typeface="Arial"/>
                <a:ea typeface="Arial"/>
                <a:cs typeface="Arial"/>
              </a:rPr>
              <a:t>Next study: ordinal/robust prediction for wine; randomized preparation access with baseline blocking for students.</a:t>
            </a:r>
          </a:p>
        </p:txBody>
      </p:sp>
    </p:spTree>
    <p:extLst>
      <p:ext uri="{BB962C8B-B14F-4D97-AF65-F5344CB8AC3E}">
        <p14:creationId xmlns:p14="http://schemas.microsoft.com/office/powerpoint/2010/main" val="1560533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2026-08-22T04:43:09.1300000Z</dcterms:created>
  <dcterms:modified xsi:type="dcterms:W3CDTF">2026-08-22T04:43:09.1300000Z</dcterms:modified>
</coreProperties>
</file>